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5" r:id="rId11"/>
    <p:sldId id="266" r:id="rId12"/>
    <p:sldId id="275" r:id="rId13"/>
    <p:sldId id="273" r:id="rId14"/>
    <p:sldId id="274" r:id="rId15"/>
    <p:sldId id="276" r:id="rId16"/>
    <p:sldId id="277" r:id="rId17"/>
  </p:sldIdLst>
  <p:sldSz cx="9144000" cy="5143500" type="screen16x9"/>
  <p:notesSz cx="6858000" cy="9144000"/>
  <p:embeddedFontLst>
    <p:embeddedFont>
      <p:font typeface="Maven Pro" panose="020B0604020202020204" charset="0"/>
      <p:regular r:id="rId19"/>
      <p:bold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219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13cc4a623_1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13cc4a623_1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13cc4a623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13cc4a623_1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13cc4a623_1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13cc4a623_1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13cc4a623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13cc4a623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13cc4a623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13cc4a623_1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13cc4a623_1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13cc4a623_1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13cc4a623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13cc4a623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13cc4a623_1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13cc4a623_1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203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3cc4a623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13cc4a623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840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349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813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3956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13cc4a623_6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13cc4a623_6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466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432525" y="211038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IronKaggle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703675" y="41979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Team: Sergei, Frank, Bosco</a:t>
            </a:r>
            <a:endParaRPr b="1"/>
          </a:p>
        </p:txBody>
      </p:sp>
      <p:sp>
        <p:nvSpPr>
          <p:cNvPr id="279" name="Google Shape;279;p13"/>
          <p:cNvSpPr txBox="1"/>
          <p:nvPr/>
        </p:nvSpPr>
        <p:spPr>
          <a:xfrm>
            <a:off x="543725" y="1674625"/>
            <a:ext cx="6298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F1F1F"/>
                </a:solidFill>
                <a:latin typeface="Maven Pro"/>
                <a:ea typeface="Maven Pro"/>
                <a:cs typeface="Maven Pro"/>
                <a:sym typeface="Maven Pro"/>
              </a:rPr>
              <a:t>King County Housing Data Exploration</a:t>
            </a:r>
            <a:endParaRPr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>
            <a:spLocks noGrp="1"/>
          </p:cNvSpPr>
          <p:nvPr>
            <p:ph type="ctrTitle"/>
          </p:nvPr>
        </p:nvSpPr>
        <p:spPr>
          <a:xfrm>
            <a:off x="199003" y="-168700"/>
            <a:ext cx="4255500" cy="8291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 u="sng" dirty="0"/>
              <a:t>Descriptive Statistics</a:t>
            </a:r>
            <a:r>
              <a:rPr lang="en" sz="2800" u="sng" dirty="0"/>
              <a:t>:</a:t>
            </a:r>
            <a:endParaRPr sz="2800" u="sng" dirty="0"/>
          </a:p>
        </p:txBody>
      </p:sp>
      <p:sp>
        <p:nvSpPr>
          <p:cNvPr id="285" name="Google Shape;285;p14"/>
          <p:cNvSpPr txBox="1">
            <a:spLocks noGrp="1"/>
          </p:cNvSpPr>
          <p:nvPr>
            <p:ph type="subTitle" idx="1"/>
          </p:nvPr>
        </p:nvSpPr>
        <p:spPr>
          <a:xfrm>
            <a:off x="248795" y="3845706"/>
            <a:ext cx="7940548" cy="24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Font typeface="Wingdings" panose="05000000000000000000" pitchFamily="2" charset="2"/>
              <a:buChar char="Ø"/>
            </a:pPr>
            <a:r>
              <a:rPr lang="en-US" sz="1220" b="1" dirty="0"/>
              <a:t>The dataset contains a total of 21,613 house sales records and 21 attributes</a:t>
            </a:r>
            <a:endParaRPr lang="en" sz="1220" b="1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Font typeface="Wingdings" panose="05000000000000000000" pitchFamily="2" charset="2"/>
              <a:buChar char="Ø"/>
            </a:pPr>
            <a:r>
              <a:rPr lang="en-US" sz="1220" b="1" dirty="0"/>
              <a:t>House prices range from $75,000 to $7.7 million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Font typeface="Wingdings" panose="05000000000000000000" pitchFamily="2" charset="2"/>
              <a:buChar char="Ø"/>
            </a:pPr>
            <a:r>
              <a:rPr lang="en-US" sz="1220" b="1" dirty="0"/>
              <a:t>Average price of $540,000, reflecting a wide range of property values across different neighborhoods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8"/>
              <a:buFont typeface="Wingdings" panose="05000000000000000000" pitchFamily="2" charset="2"/>
              <a:buChar char="Ø"/>
            </a:pPr>
            <a:r>
              <a:rPr lang="en-US" sz="1220" b="1" dirty="0"/>
              <a:t>High standard deviations in features such as price and </a:t>
            </a:r>
            <a:r>
              <a:rPr lang="en-US" sz="1220" b="1" dirty="0" err="1"/>
              <a:t>sqft_lot</a:t>
            </a:r>
            <a:endParaRPr sz="122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85DA0B-5C0D-4F06-A433-083CB3A33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79" y="642146"/>
            <a:ext cx="7927248" cy="3174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>
            <a:spLocks noGrp="1"/>
          </p:cNvSpPr>
          <p:nvPr>
            <p:ph type="ctrTitle"/>
          </p:nvPr>
        </p:nvSpPr>
        <p:spPr>
          <a:xfrm>
            <a:off x="117175" y="-155280"/>
            <a:ext cx="7366500" cy="134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 Inspection &amp; Cleaning</a:t>
            </a:r>
            <a:endParaRPr sz="2800" dirty="0"/>
          </a:p>
        </p:txBody>
      </p:sp>
      <p:sp>
        <p:nvSpPr>
          <p:cNvPr id="291" name="Google Shape;291;p15"/>
          <p:cNvSpPr txBox="1">
            <a:spLocks noGrp="1"/>
          </p:cNvSpPr>
          <p:nvPr>
            <p:ph type="subTitle" idx="1"/>
          </p:nvPr>
        </p:nvSpPr>
        <p:spPr>
          <a:xfrm>
            <a:off x="117174" y="774643"/>
            <a:ext cx="8313709" cy="2290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-apple-system"/>
              </a:rPr>
              <a:t>The dataset shows no missing or duplicate record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-apple-system"/>
              </a:rPr>
              <a:t>The 'date' column converted to datetime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-apple-system"/>
              </a:rPr>
              <a:t>Numeric columns Converted to numeric data types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-apple-system"/>
              </a:rPr>
              <a:t>The '</a:t>
            </a:r>
            <a:r>
              <a:rPr lang="en-US" sz="2400" b="0" i="0" dirty="0" err="1">
                <a:effectLst/>
                <a:latin typeface="-apple-system"/>
              </a:rPr>
              <a:t>zipcode</a:t>
            </a:r>
            <a:r>
              <a:rPr lang="en-US" sz="2400" b="0" i="0" dirty="0">
                <a:effectLst/>
                <a:latin typeface="-apple-system"/>
              </a:rPr>
              <a:t>' feature converted to string type (Categorical)</a:t>
            </a:r>
          </a:p>
        </p:txBody>
      </p:sp>
      <p:sp>
        <p:nvSpPr>
          <p:cNvPr id="6" name="Google Shape;291;p15">
            <a:extLst>
              <a:ext uri="{FF2B5EF4-FFF2-40B4-BE49-F238E27FC236}">
                <a16:creationId xmlns:a16="http://schemas.microsoft.com/office/drawing/2014/main" id="{6DC9BBB1-AE75-4BCE-9BE9-6947ED56F00F}"/>
              </a:ext>
            </a:extLst>
          </p:cNvPr>
          <p:cNvSpPr txBox="1">
            <a:spLocks/>
          </p:cNvSpPr>
          <p:nvPr/>
        </p:nvSpPr>
        <p:spPr>
          <a:xfrm>
            <a:off x="117173" y="2967485"/>
            <a:ext cx="5181600" cy="229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None/>
              <a:defRPr sz="16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46050" indent="0"/>
            <a:r>
              <a:rPr lang="en-US" sz="2400" dirty="0">
                <a:latin typeface="-apple-system"/>
              </a:rPr>
              <a:t>After the data cleaning and type casting process, the dataset remains complete with 21,613 records and 21 columns, confirming that no entries were lost or altered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-apple-system"/>
            </a:endParaRPr>
          </a:p>
        </p:txBody>
      </p:sp>
      <p:sp>
        <p:nvSpPr>
          <p:cNvPr id="7" name="Google Shape;290;p15">
            <a:extLst>
              <a:ext uri="{FF2B5EF4-FFF2-40B4-BE49-F238E27FC236}">
                <a16:creationId xmlns:a16="http://schemas.microsoft.com/office/drawing/2014/main" id="{B29DE84A-B24C-4024-872E-B08D369C2945}"/>
              </a:ext>
            </a:extLst>
          </p:cNvPr>
          <p:cNvSpPr txBox="1">
            <a:spLocks/>
          </p:cNvSpPr>
          <p:nvPr/>
        </p:nvSpPr>
        <p:spPr>
          <a:xfrm>
            <a:off x="269575" y="2113463"/>
            <a:ext cx="7366500" cy="1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r>
              <a:rPr lang="en-US" sz="2400" dirty="0"/>
              <a:t>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91C82-45AE-43D8-87A2-78F0AD024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838" y="2648124"/>
            <a:ext cx="3564880" cy="23782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>
            <a:spLocks noGrp="1"/>
          </p:cNvSpPr>
          <p:nvPr>
            <p:ph type="ctrTitle"/>
          </p:nvPr>
        </p:nvSpPr>
        <p:spPr>
          <a:xfrm>
            <a:off x="280275" y="243667"/>
            <a:ext cx="6063016" cy="64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Exploratory Data Analysis</a:t>
            </a:r>
            <a:endParaRPr dirty="0"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032993"/>
            <a:ext cx="6987396" cy="386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ctrTitle"/>
          </p:nvPr>
        </p:nvSpPr>
        <p:spPr>
          <a:xfrm>
            <a:off x="317525" y="222469"/>
            <a:ext cx="8079600" cy="7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Price Analysis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7852F5-3A12-4993-9A2F-DBF7A96BC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77" y="757394"/>
            <a:ext cx="6412597" cy="3165712"/>
          </a:xfrm>
          <a:prstGeom prst="rect">
            <a:avLst/>
          </a:prstGeom>
        </p:spPr>
      </p:pic>
      <p:sp>
        <p:nvSpPr>
          <p:cNvPr id="6" name="Google Shape;303;p17">
            <a:extLst>
              <a:ext uri="{FF2B5EF4-FFF2-40B4-BE49-F238E27FC236}">
                <a16:creationId xmlns:a16="http://schemas.microsoft.com/office/drawing/2014/main" id="{F468389C-3456-49C0-BA84-6B436133F87F}"/>
              </a:ext>
            </a:extLst>
          </p:cNvPr>
          <p:cNvSpPr txBox="1">
            <a:spLocks/>
          </p:cNvSpPr>
          <p:nvPr/>
        </p:nvSpPr>
        <p:spPr>
          <a:xfrm>
            <a:off x="6730122" y="582755"/>
            <a:ext cx="2329133" cy="105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/>
              <a:t>Findings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7" name="Google Shape;303;p17">
            <a:extLst>
              <a:ext uri="{FF2B5EF4-FFF2-40B4-BE49-F238E27FC236}">
                <a16:creationId xmlns:a16="http://schemas.microsoft.com/office/drawing/2014/main" id="{AC1281C6-A1A5-4A71-8BA0-14629EC36172}"/>
              </a:ext>
            </a:extLst>
          </p:cNvPr>
          <p:cNvSpPr txBox="1">
            <a:spLocks/>
          </p:cNvSpPr>
          <p:nvPr/>
        </p:nvSpPr>
        <p:spPr>
          <a:xfrm>
            <a:off x="301777" y="3992117"/>
            <a:ext cx="4658265" cy="1107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/>
              <a:t>This skewness suggests the presence of outliers and implies that applying a logarithmic transformation to the price variable could help normalize the data</a:t>
            </a:r>
          </a:p>
        </p:txBody>
      </p:sp>
      <p:sp>
        <p:nvSpPr>
          <p:cNvPr id="8" name="Google Shape;303;p17">
            <a:extLst>
              <a:ext uri="{FF2B5EF4-FFF2-40B4-BE49-F238E27FC236}">
                <a16:creationId xmlns:a16="http://schemas.microsoft.com/office/drawing/2014/main" id="{56787FE6-A0D6-4C33-B709-A70AEA975444}"/>
              </a:ext>
            </a:extLst>
          </p:cNvPr>
          <p:cNvSpPr txBox="1">
            <a:spLocks/>
          </p:cNvSpPr>
          <p:nvPr/>
        </p:nvSpPr>
        <p:spPr>
          <a:xfrm>
            <a:off x="6730121" y="1413420"/>
            <a:ext cx="2329133" cy="185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It reveals a right-skewed pattern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majority of sales fall below $1 million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/>
        </p:nvSpPr>
        <p:spPr>
          <a:xfrm>
            <a:off x="1302283" y="-57641"/>
            <a:ext cx="620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Bivariate analysis</a:t>
            </a:r>
            <a:endParaRPr sz="3600" b="1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6E7DF-A3D2-43C7-AD50-409807428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0" y="681259"/>
            <a:ext cx="5262024" cy="4209619"/>
          </a:xfrm>
          <a:prstGeom prst="rect">
            <a:avLst/>
          </a:prstGeom>
        </p:spPr>
      </p:pic>
      <p:sp>
        <p:nvSpPr>
          <p:cNvPr id="7" name="Google Shape;310;p18">
            <a:extLst>
              <a:ext uri="{FF2B5EF4-FFF2-40B4-BE49-F238E27FC236}">
                <a16:creationId xmlns:a16="http://schemas.microsoft.com/office/drawing/2014/main" id="{5460667F-8D45-4F7F-8297-0ED34C286401}"/>
              </a:ext>
            </a:extLst>
          </p:cNvPr>
          <p:cNvSpPr txBox="1"/>
          <p:nvPr/>
        </p:nvSpPr>
        <p:spPr>
          <a:xfrm>
            <a:off x="5832032" y="681259"/>
            <a:ext cx="334129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sale price shows strong positive correlations with key variables, including grade (0.67) and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sqft_living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(0.70)</a:t>
            </a:r>
            <a:endParaRPr sz="1600" b="1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" name="Google Shape;310;p18">
            <a:extLst>
              <a:ext uri="{FF2B5EF4-FFF2-40B4-BE49-F238E27FC236}">
                <a16:creationId xmlns:a16="http://schemas.microsoft.com/office/drawing/2014/main" id="{2063DC6E-764F-4D78-984D-DC5B5EA1C493}"/>
              </a:ext>
            </a:extLst>
          </p:cNvPr>
          <p:cNvSpPr txBox="1"/>
          <p:nvPr/>
        </p:nvSpPr>
        <p:spPr>
          <a:xfrm>
            <a:off x="5802701" y="3133477"/>
            <a:ext cx="3341299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Features like id, longitude (long),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sqft_lot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sqft_lot15, and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yr_renovated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show very weak  correlations with sale price, bathrooms (0.52),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sqft_above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(0.60), view (0.40), and waterfront</a:t>
            </a:r>
            <a:endParaRPr sz="1600" b="1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" name="Google Shape;310;p18">
            <a:extLst>
              <a:ext uri="{FF2B5EF4-FFF2-40B4-BE49-F238E27FC236}">
                <a16:creationId xmlns:a16="http://schemas.microsoft.com/office/drawing/2014/main" id="{9BC998B8-B3F1-4B18-8FDB-E52D7743D8BE}"/>
              </a:ext>
            </a:extLst>
          </p:cNvPr>
          <p:cNvSpPr txBox="1"/>
          <p:nvPr/>
        </p:nvSpPr>
        <p:spPr>
          <a:xfrm>
            <a:off x="5832032" y="1791289"/>
            <a:ext cx="334129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The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sqft_living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</a:t>
            </a:r>
            <a:r>
              <a:rPr lang="en-US" sz="1600" b="1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sqft_above</a:t>
            </a:r>
            <a:r>
              <a:rPr lang="en-US" sz="16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and sqft_living15 have correlation coefficients above 0.75, highlighting instances of multicollinearity</a:t>
            </a:r>
            <a:endParaRPr sz="1600" b="1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/>
        </p:nvSpPr>
        <p:spPr>
          <a:xfrm>
            <a:off x="1294025" y="23895"/>
            <a:ext cx="6200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Key Relationship</a:t>
            </a:r>
            <a:endParaRPr sz="2800" b="1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E6095-7BD1-42B3-BB7A-B83332264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30" y="711038"/>
            <a:ext cx="7227216" cy="4004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>
            <a:spLocks noGrp="1"/>
          </p:cNvSpPr>
          <p:nvPr>
            <p:ph type="ctrTitle"/>
          </p:nvPr>
        </p:nvSpPr>
        <p:spPr>
          <a:xfrm>
            <a:off x="316500" y="327950"/>
            <a:ext cx="84702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Feature Selection Insight</a:t>
            </a:r>
            <a:endParaRPr sz="2940" dirty="0"/>
          </a:p>
        </p:txBody>
      </p:sp>
      <p:sp>
        <p:nvSpPr>
          <p:cNvPr id="322" name="Google Shape;322;p20"/>
          <p:cNvSpPr txBox="1">
            <a:spLocks noGrp="1"/>
          </p:cNvSpPr>
          <p:nvPr>
            <p:ph type="subTitle" idx="1"/>
          </p:nvPr>
        </p:nvSpPr>
        <p:spPr>
          <a:xfrm>
            <a:off x="316500" y="1025850"/>
            <a:ext cx="7029300" cy="30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Retain: </a:t>
            </a:r>
            <a:r>
              <a:rPr lang="en-US" sz="2500" dirty="0" err="1">
                <a:latin typeface="Arial"/>
                <a:ea typeface="Arial"/>
                <a:cs typeface="Arial"/>
                <a:sym typeface="Arial"/>
              </a:rPr>
              <a:t>sqft_living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, grade, bathrooms, and waterfront (they show strong influence on price)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❖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Dropping </a:t>
            </a:r>
            <a:r>
              <a:rPr lang="en-US" sz="2500" dirty="0" err="1">
                <a:latin typeface="Arial"/>
                <a:ea typeface="Arial"/>
                <a:cs typeface="Arial"/>
                <a:sym typeface="Arial"/>
              </a:rPr>
              <a:t>sqft_lot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and bedrooms, 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as they provide weaker or less consistent predictive value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>
            <a:spLocks noGrp="1"/>
          </p:cNvSpPr>
          <p:nvPr>
            <p:ph type="ctrTitle"/>
          </p:nvPr>
        </p:nvSpPr>
        <p:spPr>
          <a:xfrm>
            <a:off x="316500" y="327950"/>
            <a:ext cx="84702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Feature Engineering</a:t>
            </a:r>
            <a:endParaRPr sz="2940" dirty="0"/>
          </a:p>
        </p:txBody>
      </p:sp>
      <p:sp>
        <p:nvSpPr>
          <p:cNvPr id="322" name="Google Shape;322;p20"/>
          <p:cNvSpPr txBox="1">
            <a:spLocks noGrp="1"/>
          </p:cNvSpPr>
          <p:nvPr>
            <p:ph type="subTitle" idx="1"/>
          </p:nvPr>
        </p:nvSpPr>
        <p:spPr>
          <a:xfrm>
            <a:off x="316499" y="1025850"/>
            <a:ext cx="8396179" cy="30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Extracting Date Components</a:t>
            </a: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Creating size ratio features (</a:t>
            </a:r>
            <a:r>
              <a:rPr lang="en-US" sz="2500" dirty="0" err="1">
                <a:latin typeface="Arial"/>
                <a:ea typeface="Arial"/>
                <a:cs typeface="Arial"/>
                <a:sym typeface="Arial"/>
              </a:rPr>
              <a:t>sqft_living_per_room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dirty="0" err="1">
                <a:latin typeface="Arial"/>
                <a:ea typeface="Arial"/>
                <a:cs typeface="Arial"/>
                <a:sym typeface="Arial"/>
              </a:rPr>
              <a:t>lot_to_living_ratio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dirty="0" err="1">
                <a:latin typeface="Arial"/>
                <a:ea typeface="Arial"/>
                <a:cs typeface="Arial"/>
                <a:sym typeface="Arial"/>
              </a:rPr>
              <a:t>has_basement</a:t>
            </a: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US" sz="2500" dirty="0">
                <a:latin typeface="Arial"/>
                <a:ea typeface="Arial"/>
                <a:cs typeface="Arial"/>
                <a:sym typeface="Arial"/>
              </a:rPr>
              <a:t>Neighborhood Proxy Features (living15_ratio, lot15_ratio)</a:t>
            </a:r>
          </a:p>
          <a:p>
            <a:pPr marL="457200" lvl="0" indent="-463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Transformations for Skewed Variables</a:t>
            </a:r>
            <a:endParaRPr sz="25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026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>
            <a:spLocks noGrp="1"/>
          </p:cNvSpPr>
          <p:nvPr>
            <p:ph type="ctrTitle"/>
          </p:nvPr>
        </p:nvSpPr>
        <p:spPr>
          <a:xfrm>
            <a:off x="824000" y="214325"/>
            <a:ext cx="7020000" cy="8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 PERFORMANCE</a:t>
            </a:r>
            <a:endParaRPr/>
          </a:p>
        </p:txBody>
      </p:sp>
      <p:sp>
        <p:nvSpPr>
          <p:cNvPr id="334" name="Google Shape;334;p22"/>
          <p:cNvSpPr txBox="1">
            <a:spLocks noGrp="1"/>
          </p:cNvSpPr>
          <p:nvPr>
            <p:ph type="subTitle" idx="1"/>
          </p:nvPr>
        </p:nvSpPr>
        <p:spPr>
          <a:xfrm>
            <a:off x="824000" y="1157300"/>
            <a:ext cx="7148400" cy="31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Linear Regression</a:t>
            </a:r>
            <a:endParaRPr sz="33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R² Score: 0.7012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RMSE: 212,539.52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2700"/>
              <a:t>Mean Squared Error: 45,173,046,132.79</a:t>
            </a:r>
            <a:endParaRPr sz="2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2058500" y="0"/>
            <a:ext cx="57639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/>
              <a:t>Actual vs Predicted Prices</a:t>
            </a:r>
            <a:endParaRPr sz="2940"/>
          </a:p>
        </p:txBody>
      </p:sp>
      <p:pic>
        <p:nvPicPr>
          <p:cNvPr id="340" name="Google Shape;3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544" y="664362"/>
            <a:ext cx="7156324" cy="42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2599094" y="0"/>
            <a:ext cx="57639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Important Features</a:t>
            </a:r>
            <a:endParaRPr sz="294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AC2B36-4E5E-4F6B-BE44-70383282D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05" y="633290"/>
            <a:ext cx="7246189" cy="425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6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1521462" y="137459"/>
            <a:ext cx="6269318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Model Training, Evaluation, and Performance Comparison</a:t>
            </a:r>
            <a:endParaRPr sz="294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7E477-53B5-4951-B12F-355C87941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43" y="1023952"/>
            <a:ext cx="7553357" cy="36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42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1521462" y="137459"/>
            <a:ext cx="6269318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Model Training, Evaluation, and Performance Comparison</a:t>
            </a:r>
            <a:endParaRPr sz="294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DD76E2-DEC1-4A49-96C8-3146E9968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23" y="1043556"/>
            <a:ext cx="7518401" cy="36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1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1521462" y="137459"/>
            <a:ext cx="6269318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Summary &amp; Conclusion</a:t>
            </a:r>
            <a:endParaRPr sz="2940" dirty="0"/>
          </a:p>
        </p:txBody>
      </p:sp>
      <p:sp>
        <p:nvSpPr>
          <p:cNvPr id="5" name="Google Shape;339;p23">
            <a:extLst>
              <a:ext uri="{FF2B5EF4-FFF2-40B4-BE49-F238E27FC236}">
                <a16:creationId xmlns:a16="http://schemas.microsoft.com/office/drawing/2014/main" id="{5A4E1855-36F6-4430-A4D3-6AAAD7086A7A}"/>
              </a:ext>
            </a:extLst>
          </p:cNvPr>
          <p:cNvSpPr txBox="1">
            <a:spLocks/>
          </p:cNvSpPr>
          <p:nvPr/>
        </p:nvSpPr>
        <p:spPr>
          <a:xfrm>
            <a:off x="860612" y="832859"/>
            <a:ext cx="7835154" cy="3747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457200" indent="-457200" algn="just">
              <a:lnSpc>
                <a:spcPct val="150000"/>
              </a:lnSpc>
              <a:buSzPts val="990"/>
              <a:buFont typeface="Wingdings" panose="05000000000000000000" pitchFamily="2" charset="2"/>
              <a:buChar char="v"/>
            </a:pPr>
            <a:r>
              <a:rPr lang="en-US" sz="2400" b="0" dirty="0" err="1"/>
              <a:t>XGBoost</a:t>
            </a:r>
            <a:r>
              <a:rPr lang="en-US" sz="2400" b="0" dirty="0"/>
              <a:t> achieved the highest test R² (0.8746) and lowest error metrics, indicating excellent accuracy and strong generalization to unseen data.</a:t>
            </a:r>
          </a:p>
          <a:p>
            <a:pPr marL="457200" indent="-457200" algn="just">
              <a:lnSpc>
                <a:spcPct val="150000"/>
              </a:lnSpc>
              <a:buSzPts val="990"/>
              <a:buFont typeface="Wingdings" panose="05000000000000000000" pitchFamily="2" charset="2"/>
              <a:buChar char="v"/>
            </a:pPr>
            <a:r>
              <a:rPr lang="en-US" sz="2400" b="0" dirty="0"/>
              <a:t>Random Forest and Gradient Boosting followed closely, both explaining over 85% of variance in housing prices with stable cross-validation scores</a:t>
            </a:r>
          </a:p>
          <a:p>
            <a:pPr marL="457200" indent="-457200" algn="just">
              <a:lnSpc>
                <a:spcPct val="150000"/>
              </a:lnSpc>
              <a:buSzPts val="990"/>
              <a:buFont typeface="Wingdings" panose="05000000000000000000" pitchFamily="2" charset="2"/>
              <a:buChar char="v"/>
            </a:pPr>
            <a:r>
              <a:rPr lang="en-US" sz="2400" b="0" dirty="0"/>
              <a:t>Linear models (Ridge, Lasso, Linear Regression, Elastic Net) showed moderate performance (~0.71 R²)</a:t>
            </a:r>
          </a:p>
        </p:txBody>
      </p:sp>
    </p:spTree>
    <p:extLst>
      <p:ext uri="{BB962C8B-B14F-4D97-AF65-F5344CB8AC3E}">
        <p14:creationId xmlns:p14="http://schemas.microsoft.com/office/powerpoint/2010/main" val="1446191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>
            <a:spLocks noGrp="1"/>
          </p:cNvSpPr>
          <p:nvPr>
            <p:ph type="ctrTitle"/>
          </p:nvPr>
        </p:nvSpPr>
        <p:spPr>
          <a:xfrm>
            <a:off x="1521462" y="137459"/>
            <a:ext cx="6269318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940" dirty="0"/>
              <a:t>Best Model - </a:t>
            </a:r>
            <a:r>
              <a:rPr lang="en-US" sz="2940" dirty="0" err="1"/>
              <a:t>XGBoost</a:t>
            </a:r>
            <a:r>
              <a:rPr lang="en-US" sz="2940" dirty="0"/>
              <a:t> Regressor</a:t>
            </a:r>
            <a:endParaRPr sz="2940" dirty="0"/>
          </a:p>
        </p:txBody>
      </p:sp>
      <p:sp>
        <p:nvSpPr>
          <p:cNvPr id="5" name="Google Shape;339;p23">
            <a:extLst>
              <a:ext uri="{FF2B5EF4-FFF2-40B4-BE49-F238E27FC236}">
                <a16:creationId xmlns:a16="http://schemas.microsoft.com/office/drawing/2014/main" id="{5A4E1855-36F6-4430-A4D3-6AAAD7086A7A}"/>
              </a:ext>
            </a:extLst>
          </p:cNvPr>
          <p:cNvSpPr txBox="1">
            <a:spLocks/>
          </p:cNvSpPr>
          <p:nvPr/>
        </p:nvSpPr>
        <p:spPr>
          <a:xfrm>
            <a:off x="4751296" y="922506"/>
            <a:ext cx="3938494" cy="3747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ven Pro"/>
              <a:buNone/>
              <a:defRPr sz="3600" b="1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r>
              <a:rPr lang="en-US" sz="2000" b="0" dirty="0"/>
              <a:t>Superior balance of bias</a:t>
            </a:r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endParaRPr lang="en-US" sz="2000" b="0" dirty="0"/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r>
              <a:rPr lang="en-US" sz="2000" b="0" dirty="0"/>
              <a:t>Excellent predictive power and robustness</a:t>
            </a:r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endParaRPr lang="en-US" sz="2000" b="0" dirty="0"/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r>
              <a:rPr lang="en-US" sz="2000" b="0" dirty="0"/>
              <a:t>Handles feature interactions and nonlinear relationships efficiently</a:t>
            </a:r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endParaRPr lang="en-US" sz="2000" b="0" dirty="0"/>
          </a:p>
          <a:p>
            <a:pPr marL="457200" indent="-457200" algn="just">
              <a:buSzPts val="990"/>
              <a:buFont typeface="Wingdings" panose="05000000000000000000" pitchFamily="2" charset="2"/>
              <a:buChar char="v"/>
            </a:pPr>
            <a:r>
              <a:rPr lang="en-US" sz="2000" b="0" dirty="0"/>
              <a:t>Scalable and well-suited for production deployment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10525-7B1F-45FA-BAC1-D2B16F5E4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82" y="1110608"/>
            <a:ext cx="3876618" cy="31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52606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491</Words>
  <Application>Microsoft Office PowerPoint</Application>
  <PresentationFormat>On-screen Show (16:9)</PresentationFormat>
  <Paragraphs>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Maven Pro</vt:lpstr>
      <vt:lpstr>-apple-system</vt:lpstr>
      <vt:lpstr>Arial</vt:lpstr>
      <vt:lpstr>Nunito</vt:lpstr>
      <vt:lpstr>Wingdings</vt:lpstr>
      <vt:lpstr>Momentum</vt:lpstr>
      <vt:lpstr>IronKaggle</vt:lpstr>
      <vt:lpstr>Descriptive Statistics:</vt:lpstr>
      <vt:lpstr>Data Inspection &amp; Cleaning</vt:lpstr>
      <vt:lpstr>Exploratory Data Analysis</vt:lpstr>
      <vt:lpstr>Sales Price Analysis </vt:lpstr>
      <vt:lpstr>PowerPoint Presentation</vt:lpstr>
      <vt:lpstr>PowerPoint Presentation</vt:lpstr>
      <vt:lpstr>Feature Selection Insight</vt:lpstr>
      <vt:lpstr>Feature Engineering</vt:lpstr>
      <vt:lpstr>BASELINE MODEL PERFORMANCE</vt:lpstr>
      <vt:lpstr>Actual vs Predicted Prices</vt:lpstr>
      <vt:lpstr>Important Features</vt:lpstr>
      <vt:lpstr>Model Training, Evaluation, and Performance Comparison</vt:lpstr>
      <vt:lpstr>Model Training, Evaluation, and Performance Comparison</vt:lpstr>
      <vt:lpstr>Summary &amp; Conclusion</vt:lpstr>
      <vt:lpstr>Best Model - XGBoost Regressor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IronKaggle</dc:title>
  <cp:lastModifiedBy>Frank Sarfo</cp:lastModifiedBy>
  <cp:revision>21</cp:revision>
  <dcterms:modified xsi:type="dcterms:W3CDTF">2025-11-12T20:56:15Z</dcterms:modified>
</cp:coreProperties>
</file>